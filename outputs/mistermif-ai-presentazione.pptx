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27650a564e489b" /><Relationship Type="http://schemas.openxmlformats.org/officeDocument/2006/relationships/extended-properties" Target="/docProps/app.xml" Id="R183e4713efe64108" /><Relationship Type="http://schemas.openxmlformats.org/officeDocument/2006/relationships/officeDocument" Target="/ppt/presentation.xml" Id="R795375abe8974b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b2a901c5bf42b9"/>
  </p:sldMasterIdLst>
  <p:notesMasterIdLst>
    <p:notesMasterId xmlns:r="http://schemas.openxmlformats.org/officeDocument/2006/relationships" r:id="R7340167f19c1437f"/>
  </p:notesMasterIdLst>
  <p:sldIdLst>
    <p:sldId xmlns:r="http://schemas.openxmlformats.org/officeDocument/2006/relationships" id="256" r:id="R856c18542eb2487a"/>
    <p:sldId xmlns:r="http://schemas.openxmlformats.org/officeDocument/2006/relationships" id="257" r:id="R3cc080bafe4646fb"/>
    <p:sldId xmlns:r="http://schemas.openxmlformats.org/officeDocument/2006/relationships" id="258" r:id="Rc4e5ac3b0ed048f3"/>
    <p:sldId xmlns:r="http://schemas.openxmlformats.org/officeDocument/2006/relationships" id="259" r:id="Re0920bd77c0c4d7d"/>
    <p:sldId xmlns:r="http://schemas.openxmlformats.org/officeDocument/2006/relationships" id="260" r:id="R743f2b425d0545bf"/>
    <p:sldId xmlns:r="http://schemas.openxmlformats.org/officeDocument/2006/relationships" id="261" r:id="R022dd67cc17e4018"/>
    <p:sldId xmlns:r="http://schemas.openxmlformats.org/officeDocument/2006/relationships" id="262" r:id="R91a63a45a3ac45fa"/>
    <p:sldId xmlns:r="http://schemas.openxmlformats.org/officeDocument/2006/relationships" id="263" r:id="R5b3d61289ce84276"/>
    <p:sldId xmlns:r="http://schemas.openxmlformats.org/officeDocument/2006/relationships" id="264" r:id="R95911ad9b99f4b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648ae387384d8f" /><Relationship Type="http://schemas.openxmlformats.org/officeDocument/2006/relationships/slideMaster" Target="/ppt/slideMasters/slideMaster1.xml" Id="R65b2a901c5bf42b9" /><Relationship Type="http://schemas.openxmlformats.org/officeDocument/2006/relationships/notesMaster" Target="/ppt/notesMasters/notesMaster1.xml" Id="R7340167f19c1437f" /><Relationship Type="http://schemas.openxmlformats.org/officeDocument/2006/relationships/presProps" Target="/ppt/presProps.xml" Id="R39cfa0e892e64816" /><Relationship Type="http://schemas.openxmlformats.org/officeDocument/2006/relationships/tableStyles" Target="/ppt/tableStyles.xml" Id="R693db9229e604aa0" /><Relationship Type="http://schemas.openxmlformats.org/officeDocument/2006/relationships/slide" Target="/ppt/slides/slide1.xml" Id="R856c18542eb2487a" /><Relationship Type="http://schemas.openxmlformats.org/officeDocument/2006/relationships/slide" Target="/ppt/slides/slide2.xml" Id="R3cc080bafe4646fb" /><Relationship Type="http://schemas.openxmlformats.org/officeDocument/2006/relationships/slide" Target="/ppt/slides/slide3.xml" Id="Rc4e5ac3b0ed048f3" /><Relationship Type="http://schemas.openxmlformats.org/officeDocument/2006/relationships/slide" Target="/ppt/slides/slide4.xml" Id="Re0920bd77c0c4d7d" /><Relationship Type="http://schemas.openxmlformats.org/officeDocument/2006/relationships/slide" Target="/ppt/slides/slide5.xml" Id="R743f2b425d0545bf" /><Relationship Type="http://schemas.openxmlformats.org/officeDocument/2006/relationships/slide" Target="/ppt/slides/slide6.xml" Id="R022dd67cc17e4018" /><Relationship Type="http://schemas.openxmlformats.org/officeDocument/2006/relationships/slide" Target="/ppt/slides/slide7.xml" Id="R91a63a45a3ac45fa" /><Relationship Type="http://schemas.openxmlformats.org/officeDocument/2006/relationships/slide" Target="/ppt/slides/slide8.xml" Id="R5b3d61289ce84276" /><Relationship Type="http://schemas.openxmlformats.org/officeDocument/2006/relationships/slide" Target="/ppt/slides/slide9.xml" Id="R95911ad9b99f4b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108bd8295447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7cb7229bf84b7f" /><Relationship Type="http://schemas.openxmlformats.org/officeDocument/2006/relationships/notesMaster" Target="/ppt/notesMasters/notesMaster1.xml" Id="R8318691cea7f4f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bd5014731f4f40" /><Relationship Type="http://schemas.openxmlformats.org/officeDocument/2006/relationships/notesMaster" Target="/ppt/notesMasters/notesMaster1.xml" Id="Rafbc08e40f164b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0e43e6cb044201" /><Relationship Type="http://schemas.openxmlformats.org/officeDocument/2006/relationships/notesMaster" Target="/ppt/notesMasters/notesMaster1.xml" Id="Rb04de66dc424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6b1dba281947ee" /><Relationship Type="http://schemas.openxmlformats.org/officeDocument/2006/relationships/notesMaster" Target="/ppt/notesMasters/notesMaster1.xml" Id="R41d7e150e36c47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1eee32f96a49a9" /><Relationship Type="http://schemas.openxmlformats.org/officeDocument/2006/relationships/notesMaster" Target="/ppt/notesMasters/notesMaster1.xml" Id="Rddac5bd8db424f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e9f2ea112a4ef8" /><Relationship Type="http://schemas.openxmlformats.org/officeDocument/2006/relationships/notesMaster" Target="/ppt/notesMasters/notesMaster1.xml" Id="Rb2f982475d2740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d14bd806e64b2d" /><Relationship Type="http://schemas.openxmlformats.org/officeDocument/2006/relationships/notesMaster" Target="/ppt/notesMasters/notesMaster1.xml" Id="R163124dc1b1045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6f790cc3c146b1" /><Relationship Type="http://schemas.openxmlformats.org/officeDocument/2006/relationships/notesMaster" Target="/ppt/notesMasters/notesMaster1.xml" Id="R87ac4b83d87243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fae5bdbd5047be" /><Relationship Type="http://schemas.openxmlformats.org/officeDocument/2006/relationships/notesMaster" Target="/ppt/notesMasters/notesMaster1.xml" Id="R0afb5d723acc4f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c0b66255d4f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d1035c8434871" /><Relationship Type="http://schemas.openxmlformats.org/officeDocument/2006/relationships/slideLayout" Target="/ppt/slideLayouts/slideLayout1.xml" Id="Rec12c29e798345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12c29e798345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1cbae7dba460f" /><Relationship Type="http://schemas.openxmlformats.org/officeDocument/2006/relationships/image" Target="/ppt/media/image.png" Id="Rdda6bf0485994e56" /><Relationship Type="http://schemas.openxmlformats.org/officeDocument/2006/relationships/notesSlide" Target="/ppt/notesSlides/notesSlide1.xml" Id="Rb44dd1e484c340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c22016c3041f9" /><Relationship Type="http://schemas.openxmlformats.org/officeDocument/2006/relationships/notesSlide" Target="/ppt/notesSlides/notesSlide2.xml" Id="R5b6be41a4c754d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c2a7f119e4e06" /><Relationship Type="http://schemas.openxmlformats.org/officeDocument/2006/relationships/notesSlide" Target="/ppt/notesSlides/notesSlide3.xml" Id="Rd51259be887342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ca0bd759945e2" /><Relationship Type="http://schemas.openxmlformats.org/officeDocument/2006/relationships/notesSlide" Target="/ppt/notesSlides/notesSlide4.xml" Id="R691d30a172964c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533b704404369" /><Relationship Type="http://schemas.openxmlformats.org/officeDocument/2006/relationships/notesSlide" Target="/ppt/notesSlides/notesSlide5.xml" Id="R9be056a4e08540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654912cd34137" /><Relationship Type="http://schemas.openxmlformats.org/officeDocument/2006/relationships/notesSlide" Target="/ppt/notesSlides/notesSlide6.xml" Id="Rc7b32043927d41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dcbedd2384cdb" /><Relationship Type="http://schemas.openxmlformats.org/officeDocument/2006/relationships/notesSlide" Target="/ppt/notesSlides/notesSlide7.xml" Id="Re9b47150b5f04d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7eb0c33f46f0" /><Relationship Type="http://schemas.openxmlformats.org/officeDocument/2006/relationships/notesSlide" Target="/ppt/notesSlides/notesSlide8.xml" Id="Rf778936327d845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e302d6dd04759" /><Relationship Type="http://schemas.openxmlformats.org/officeDocument/2006/relationships/notesSlide" Target="/ppt/notesSlides/notesSlide9.xml" Id="R70c42305001749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57E3F-DC27-4CD2-B0D8-91B0CEDF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DF2"/>
          </a:solidFill>
          <a:ln xmlns:a="http://schemas.openxmlformats.org/drawingml/2006/main" w="0">
            <a:solidFill>
              <a:srgbClr val="19DD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46987-6302-4C0D-B491-85EDE9FA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8D"/>
          </a:solidFill>
          <a:ln xmlns:a="http://schemas.openxmlformats.org/drawingml/2006/main" w="0">
            <a:solidFill>
              <a:srgbClr val="FF3B8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A740C-51F2-4B6D-A40A-37DADCA3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4191000" cy="5524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B3D"/>
          </a:solidFill>
          <a:ln xmlns:a="http://schemas.openxmlformats.org/drawingml/2006/main" w="9525">
            <a:solidFill>
              <a:srgbClr val="26345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6bf0485994e56"/>
          <a:stretch xmlns:a="http://schemas.openxmlformats.org/drawingml/2006/main"/>
        </p:blipFill>
        <p:spPr>
          <a:xfrm xmlns:a="http://schemas.openxmlformats.org/drawingml/2006/main">
            <a:off x="7667625" y="112395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4954B-A919-47FB-8F10-B75611AD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9FF"/>
                </a:solidFill>
              </a:defRPr>
            </a:pPr>
            <a:r>
              <a:rPr sz="4350" b="1">
                <a:solidFill>
                  <a:srgbClr val="F7F9FF"/>
                </a:solidFill>
              </a:rPr>
              <a:t>mistermif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3315B-0201-41AD-98BC-8B312CAD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56210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9DDF2"/>
                </a:solidFill>
              </a:defRPr>
            </a:pPr>
            <a:r>
              <a:rPr sz="4350" b="1">
                <a:solidFill>
                  <a:srgbClr val="19DDF2"/>
                </a:solidFill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93CFA-5F98-4298-AF7B-0AFF3304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9FF"/>
                </a:solidFill>
              </a:defRPr>
            </a:pPr>
            <a:r>
              <a:rPr sz="2850" b="1">
                <a:solidFill>
                  <a:srgbClr val="F7F9FF"/>
                </a:solidFill>
              </a:rPr>
              <a:t>Il copilota intelligente</a:t>
            </a:r>
          </a:p>
          <a:p xmlns:a="http://schemas.openxmlformats.org/drawingml/2006/main">
            <a:pPr algn="l">
              <a:defRPr sz="2850" b="1">
                <a:solidFill>
                  <a:srgbClr val="F7F9FF"/>
                </a:solidFill>
              </a:defRPr>
            </a:pPr>
            <a:r>
              <a:rPr sz="2850" b="1">
                <a:solidFill>
                  <a:srgbClr val="F7F9FF"/>
                </a:solidFill>
              </a:rPr>
              <a:t>della caravan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1A4EF-DC91-4877-A9E5-D55021B6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D6"/>
                </a:solidFill>
              </a:defRPr>
            </a:pPr>
            <a:r>
              <a:rPr sz="1575" b="0">
                <a:solidFill>
                  <a:srgbClr val="AAB4D6"/>
                </a:solidFill>
              </a:rPr>
              <a:t>Osserva. Ricorda. Decide entro limiti sicuri.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D1E2D-7E4C-4A0B-AE82-75F7EDE9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B8D"/>
                </a:solidFill>
              </a:defRPr>
            </a:pPr>
            <a:r>
              <a:rPr sz="1125" b="1">
                <a:solidFill>
                  <a:srgbClr val="FF3B8D"/>
                </a:solidFill>
              </a:rPr>
              <a:t>HOME ASSISTANT · ENERGIA · METEO · VIAGGI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B7B2F-C863-4779-863D-62DDCD07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Caravan con memoria, contesto e carattere</a:t>
            </a:r>
          </a:p>
        </p:txBody>
      </p:sp>
    </p:spTree>
    <p:extLst>
      <p:ext uri="{BB962C8B-B14F-4D97-AF65-F5344CB8AC3E}">
        <p14:creationId xmlns:p14="http://schemas.microsoft.com/office/powerpoint/2010/main" val="1464438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0C458-979E-4FB7-8C91-A879637E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DDF2"/>
                </a:solidFill>
              </a:defRPr>
            </a:pPr>
            <a:r>
              <a:rPr sz="1050" b="1">
                <a:solidFill>
                  <a:srgbClr val="19DDF2"/>
                </a:solidFill>
              </a:rPr>
              <a:t>MISTERMIF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5FF72-7840-41C9-821A-DF709421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4D6"/>
                </a:solidFill>
              </a:defRPr>
            </a:pPr>
            <a:r>
              <a:rPr sz="1050" b="1">
                <a:solidFill>
                  <a:srgbClr val="AAB4D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64557-E3B8-4794-8794-37D34710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F1049-2438-4785-9B4B-687AE1D5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9FF"/>
                </a:solidFill>
              </a:defRPr>
            </a:pPr>
            <a:r>
              <a:rPr sz="2925" b="1">
                <a:solidFill>
                  <a:srgbClr val="F7F9FF"/>
                </a:solidFill>
              </a:rPr>
              <a:t>Una caravan che capisce il contesto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99CC8-B9D8-4B1A-8A22-0A764028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D6"/>
                </a:solidFill>
              </a:defRPr>
            </a:pPr>
            <a:r>
              <a:rPr sz="1500" b="0">
                <a:solidFill>
                  <a:srgbClr val="AAB4D6"/>
                </a:solidFill>
              </a:rPr>
              <a:t>Non una collezione di automazioni: un sistema che collega persone, luogo e risorse.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969B6-926E-4F22-A61C-33321F73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1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1F01A-325E-4512-B4C3-F1E6177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DDF2"/>
                </a:solidFill>
              </a:defRPr>
            </a:pPr>
            <a:r>
              <a:rPr sz="1650" b="1">
                <a:solidFill>
                  <a:srgbClr val="19DDF2"/>
                </a:solidFill>
              </a:rPr>
              <a:t>VEDE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89999-16DF-4C2C-9BCF-D9A84B76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76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F"/>
                </a:solidFill>
              </a:defRPr>
            </a:pPr>
            <a:r>
              <a:rPr sz="1875" b="1">
                <a:solidFill>
                  <a:srgbClr val="F7F9FF"/>
                </a:solidFill>
              </a:rPr>
              <a:t>Sensori, energia, GPS, meteo e stato degli apparati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49FC4-33B8-4604-AD6F-F7C456A0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DF2"/>
          </a:solidFill>
          <a:ln xmlns:a="http://schemas.openxmlformats.org/drawingml/2006/main" w="0">
            <a:solidFill>
              <a:srgbClr val="1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28CD0-28A1-472F-960A-B92A220B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765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25831-A580-4399-9370-51338BD1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81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B8D"/>
                </a:solidFill>
              </a:defRPr>
            </a:pPr>
            <a:r>
              <a:rPr sz="1650" b="1">
                <a:solidFill>
                  <a:srgbClr val="FF3B8D"/>
                </a:solidFill>
              </a:rPr>
              <a:t>RICORDA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91004-8E9B-44BB-B3AC-E3C15B34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09950"/>
            <a:ext cx="276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F"/>
                </a:solidFill>
              </a:defRPr>
            </a:pPr>
            <a:r>
              <a:rPr sz="1875" b="1">
                <a:solidFill>
                  <a:srgbClr val="F7F9FF"/>
                </a:solidFill>
              </a:rPr>
              <a:t>Campeggi, ampere disponibili, preferenze e interventi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710B9-8879-4D77-A597-4D13EDED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9149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8D"/>
          </a:solidFill>
          <a:ln xmlns:a="http://schemas.openxmlformats.org/drawingml/2006/main" w="0">
            <a:solidFill>
              <a:srgbClr val="FF3B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FE8A9-03F7-4463-B287-EEFD057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35E6A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F65DD-4050-46B2-8D41-76B1008C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E6A3"/>
                </a:solidFill>
              </a:defRPr>
            </a:pPr>
            <a:r>
              <a:rPr sz="1650" b="1">
                <a:solidFill>
                  <a:srgbClr val="35E6A3"/>
                </a:solidFill>
              </a:rPr>
              <a:t>AGISCE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F9C94-6F08-48A2-A614-B58CDB8A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9950"/>
            <a:ext cx="276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F"/>
                </a:solidFill>
              </a:defRPr>
            </a:pPr>
            <a:r>
              <a:rPr sz="1875" b="1">
                <a:solidFill>
                  <a:srgbClr val="F7F9FF"/>
                </a:solidFill>
              </a:rPr>
              <a:t>Protegge la colonnina e gestisce solo azioni autorizzate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BD41F-23EE-47A1-A74A-CCA189E9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A3"/>
          </a:solidFill>
          <a:ln xmlns:a="http://schemas.openxmlformats.org/drawingml/2006/main" w="0">
            <a:solidFill>
              <a:srgbClr val="35E6A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B9809-780E-486D-BE35-3F0F28B8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4D6"/>
                </a:solidFill>
              </a:defRPr>
            </a:pPr>
            <a:r>
              <a:rPr sz="1800" b="0">
                <a:solidFill>
                  <a:srgbClr val="AAB4D6"/>
                </a:solidFill>
              </a:rPr>
              <a:t>Il risultato: meno interruttori da controllare, più decisioni comprensibili.</a:t>
            </a:r>
          </a:p>
        </p:txBody>
      </p:sp>
    </p:spTree>
    <p:extLst>
      <p:ext uri="{BB962C8B-B14F-4D97-AF65-F5344CB8AC3E}">
        <p14:creationId xmlns:p14="http://schemas.microsoft.com/office/powerpoint/2010/main" val="1374351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51ECEF-976A-4E99-9E50-9033281A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DDF2"/>
                </a:solidFill>
              </a:defRPr>
            </a:pPr>
            <a:r>
              <a:rPr sz="1050" b="1">
                <a:solidFill>
                  <a:srgbClr val="19DDF2"/>
                </a:solidFill>
              </a:rPr>
              <a:t>MISTERMIF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C7BE5-A7F4-4B31-8FF2-9BF7317F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4D6"/>
                </a:solidFill>
              </a:defRPr>
            </a:pPr>
            <a:r>
              <a:rPr sz="1050" b="1">
                <a:solidFill>
                  <a:srgbClr val="AAB4D6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E6C76-7D46-4AE7-92B1-BD21292A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EB441-6AE2-401F-881C-61C11786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9FF"/>
                </a:solidFill>
              </a:defRPr>
            </a:pPr>
            <a:r>
              <a:rPr sz="2925" b="1">
                <a:solidFill>
                  <a:srgbClr val="F7F9FF"/>
                </a:solidFill>
              </a:rPr>
              <a:t>L’intelligenza non sostituisce le protezioni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82D15-09E6-449F-A9A9-1086F739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D6"/>
                </a:solidFill>
              </a:defRPr>
            </a:pPr>
            <a:r>
              <a:rPr sz="1500" b="0">
                <a:solidFill>
                  <a:srgbClr val="AAB4D6"/>
                </a:solidFill>
              </a:rPr>
              <a:t>Le reazioni rapide restano locali; l’AI aggiunge memoria, diagnosi e strategia.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1AD86-1147-4F76-B9FB-E6981492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616D2-D952-4B2C-8232-C248B72A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8137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AB4D6"/>
                </a:solidFill>
              </a:defRPr>
            </a:pPr>
            <a:r>
              <a:rPr sz="2550" b="1">
                <a:solidFill>
                  <a:srgbClr val="AAB4D6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1E320-3F6B-496B-B906-3E577AD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766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428E5-099F-480F-8F63-55268A1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8137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AB4D6"/>
                </a:solidFill>
              </a:defRPr>
            </a:pPr>
            <a:r>
              <a:rPr sz="2550" b="1">
                <a:solidFill>
                  <a:srgbClr val="AAB4D6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C9931-BE57-4A9D-A5F0-7793C2EC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CCC70-2827-455F-BF48-6C463C05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8137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AB4D6"/>
                </a:solidFill>
              </a:defRPr>
            </a:pPr>
            <a:r>
              <a:rPr sz="2550" b="1">
                <a:solidFill>
                  <a:srgbClr val="AAB4D6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31D62-DCB9-40AB-8C14-265F668A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1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205B7-2D22-433C-BFE1-13C9C413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DDF2"/>
                </a:solidFill>
              </a:defRPr>
            </a:pPr>
            <a:r>
              <a:rPr sz="1200" b="1">
                <a:solidFill>
                  <a:srgbClr val="19DDF2"/>
                </a:solidFill>
              </a:rPr>
              <a:t>SENSORI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30AD2-7CAB-4B3D-B3FB-D979204D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466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9FF"/>
                </a:solidFill>
              </a:defRPr>
            </a:pPr>
            <a:r>
              <a:rPr sz="1425" b="1">
                <a:solidFill>
                  <a:srgbClr val="F7F9FF"/>
                </a:solidFill>
              </a:rPr>
              <a:t>PZEM · BMS · clima</a:t>
            </a:r>
          </a:p>
          <a:p xmlns:a="http://schemas.openxmlformats.org/drawingml/2006/main">
            <a:pPr algn="ctr">
              <a:defRPr sz="1425" b="1">
                <a:solidFill>
                  <a:srgbClr val="F7F9FF"/>
                </a:solidFill>
              </a:defRPr>
            </a:pPr>
            <a:r>
              <a:rPr sz="1425" b="1">
                <a:solidFill>
                  <a:srgbClr val="F7F9FF"/>
                </a:solidFill>
              </a:rPr>
              <a:t>GPS · meteo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BEFCA-FE3C-49F3-824F-4A75E216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5750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35E6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5F506-D194-4EC1-92FB-6BA34C72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95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6A3"/>
                </a:solidFill>
              </a:defRPr>
            </a:pPr>
            <a:r>
              <a:rPr sz="1200" b="1">
                <a:solidFill>
                  <a:srgbClr val="35E6A3"/>
                </a:solidFill>
              </a:rPr>
              <a:t>HOME ASSISTANT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CEF42-7E9C-42CB-BC7D-B0F373F0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62350"/>
            <a:ext cx="1466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9FF"/>
                </a:solidFill>
              </a:defRPr>
            </a:pPr>
            <a:r>
              <a:rPr sz="1425" b="1">
                <a:solidFill>
                  <a:srgbClr val="F7F9FF"/>
                </a:solidFill>
              </a:rPr>
              <a:t>Automazioni locali</a:t>
            </a:r>
          </a:p>
          <a:p xmlns:a="http://schemas.openxmlformats.org/drawingml/2006/main">
            <a:pPr algn="ctr">
              <a:defRPr sz="1425" b="1">
                <a:solidFill>
                  <a:srgbClr val="F7F9FF"/>
                </a:solidFill>
              </a:defRPr>
            </a:pPr>
            <a:r>
              <a:rPr sz="1425" b="1">
                <a:solidFill>
                  <a:srgbClr val="F7F9FF"/>
                </a:solidFill>
              </a:rPr>
              <a:t>e affidabili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6F50E-DC54-48D8-83B3-6EEC2793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2332D-557C-4BBE-9C9E-3514D473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8D"/>
                </a:solidFill>
              </a:defRPr>
            </a:pPr>
            <a:r>
              <a:rPr sz="1200" b="1">
                <a:solidFill>
                  <a:srgbClr val="FF3B8D"/>
                </a:solidFill>
              </a:rPr>
              <a:t>MISTERMIF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E7C89-19CF-4BA1-8253-66243831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1466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9FF"/>
                </a:solidFill>
              </a:defRPr>
            </a:pPr>
            <a:r>
              <a:rPr sz="1425" b="1">
                <a:solidFill>
                  <a:srgbClr val="F7F9FF"/>
                </a:solidFill>
              </a:rPr>
              <a:t>Contesto · memoria</a:t>
            </a:r>
          </a:p>
          <a:p xmlns:a="http://schemas.openxmlformats.org/drawingml/2006/main">
            <a:pPr algn="ctr">
              <a:defRPr sz="1425" b="1">
                <a:solidFill>
                  <a:srgbClr val="F7F9FF"/>
                </a:solidFill>
              </a:defRPr>
            </a:pPr>
            <a:r>
              <a:rPr sz="1425" b="1">
                <a:solidFill>
                  <a:srgbClr val="F7F9FF"/>
                </a:solidFill>
              </a:rPr>
              <a:t>spiegazioni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852C1-A013-4676-BDB5-4E1B9D43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F3A65-E06F-41A8-9FB8-98C5555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95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857"/>
                </a:solidFill>
              </a:defRPr>
            </a:pPr>
            <a:r>
              <a:rPr sz="1200" b="1">
                <a:solidFill>
                  <a:srgbClr val="FFC857"/>
                </a:solidFill>
              </a:rPr>
              <a:t>PERSONE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2B257-4F01-45A0-B174-91FE62C3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62350"/>
            <a:ext cx="1466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9FF"/>
                </a:solidFill>
              </a:defRPr>
            </a:pPr>
            <a:r>
              <a:rPr sz="1425" b="1">
                <a:solidFill>
                  <a:srgbClr val="F7F9FF"/>
                </a:solidFill>
              </a:rPr>
              <a:t>Chat · notifiche</a:t>
            </a:r>
          </a:p>
          <a:p xmlns:a="http://schemas.openxmlformats.org/drawingml/2006/main">
            <a:pPr algn="ctr">
              <a:defRPr sz="1425" b="1">
                <a:solidFill>
                  <a:srgbClr val="F7F9FF"/>
                </a:solidFill>
              </a:defRPr>
            </a:pPr>
            <a:r>
              <a:rPr sz="1425" b="1">
                <a:solidFill>
                  <a:srgbClr val="F7F9FF"/>
                </a:solidFill>
              </a:rPr>
              <a:t>decisioni chiare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9EE9E-D144-4251-A78E-8C916AF0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0"/>
            <a:ext cx="666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B3D"/>
          </a:solidFill>
          <a:ln xmlns:a="http://schemas.openxmlformats.org/drawingml/2006/main" w="9525">
            <a:solidFill>
              <a:srgbClr val="2634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26A30-465A-4A2A-BFF5-13BAE239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340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9FF"/>
                </a:solidFill>
              </a:defRPr>
            </a:pPr>
            <a:r>
              <a:rPr sz="1725" b="1">
                <a:solidFill>
                  <a:srgbClr val="F7F9FF"/>
                </a:solidFill>
              </a:rPr>
              <a:t>Se Internet manca, le protezioni elettriche continuano a funzionare.</a:t>
            </a:r>
          </a:p>
        </p:txBody>
      </p:sp>
    </p:spTree>
    <p:extLst>
      <p:ext uri="{BB962C8B-B14F-4D97-AF65-F5344CB8AC3E}">
        <p14:creationId xmlns:p14="http://schemas.microsoft.com/office/powerpoint/2010/main" val="433499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0506B-C2E7-4A09-A853-4F866BC2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DDF2"/>
                </a:solidFill>
              </a:defRPr>
            </a:pPr>
            <a:r>
              <a:rPr sz="1050" b="1">
                <a:solidFill>
                  <a:srgbClr val="19DDF2"/>
                </a:solidFill>
              </a:rPr>
              <a:t>MISTERMIF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71BFD-DF4F-4135-91DF-4C7175F7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4D6"/>
                </a:solidFill>
              </a:defRPr>
            </a:pPr>
            <a:r>
              <a:rPr sz="1050" b="1">
                <a:solidFill>
                  <a:srgbClr val="AAB4D6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C4A09-8AF6-4AE6-BF48-84E37CE6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B0CEF-682C-44A7-AF4B-F27EAAA3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9FF"/>
                </a:solidFill>
              </a:defRPr>
            </a:pPr>
            <a:r>
              <a:rPr sz="2925" b="1">
                <a:solidFill>
                  <a:srgbClr val="F7F9FF"/>
                </a:solidFill>
              </a:rPr>
              <a:t>Sa quanta corrente offre davvero il campeggio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0805C-B187-4F1E-8434-6039A4EA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D6"/>
                </a:solidFill>
              </a:defRPr>
            </a:pPr>
            <a:r>
              <a:rPr sz="1500" b="0">
                <a:solidFill>
                  <a:srgbClr val="AAB4D6"/>
                </a:solidFill>
              </a:rPr>
              <a:t>Una breve presentazione all’arrivo diventa un profilo energetico riutilizzabile.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F239A-B390-4DAB-A536-562ECD07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95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11B3D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B4C52-95F4-4629-8415-F8E65B6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</a:defRPr>
            </a:pPr>
            <a:r>
              <a:rPr sz="2175" b="1">
                <a:solidFill>
                  <a:srgbClr val="F7F9FF"/>
                </a:solidFill>
              </a:rPr>
              <a:t>“Sono al Camping XXX.</a:t>
            </a:r>
          </a:p>
          <a:p xmlns:a="http://schemas.openxmlformats.org/drawingml/2006/main">
            <a:pPr algn="l">
              <a:defRPr sz="2175" b="1">
                <a:solidFill>
                  <a:srgbClr val="F7F9FF"/>
                </a:solidFill>
              </a:defRPr>
            </a:pPr>
            <a:r>
              <a:rPr sz="2175" b="1">
                <a:solidFill>
                  <a:srgbClr val="F7F9FF"/>
                </a:solidFill>
              </a:rPr>
              <a:t>La colonnina offre 6 A.”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5CC43-1289-490D-9A24-A89620A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D6"/>
                </a:solidFill>
              </a:defRPr>
            </a:pPr>
            <a:r>
              <a:rPr sz="1425" b="0">
                <a:solidFill>
                  <a:srgbClr val="AAB4D6"/>
                </a:solidFill>
              </a:rPr>
              <a:t>GPS + memoria associano il limite al luogo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4992C-3088-41A9-9356-B940A6C0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2667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91180-0D23-498C-975A-87C67498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6697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857"/>
                </a:solidFill>
              </a:defRPr>
            </a:pPr>
            <a:r>
              <a:rPr sz="2025" b="1">
                <a:solidFill>
                  <a:srgbClr val="FFC857"/>
                </a:solidFill>
              </a:rPr>
              <a:t>≈ 1.300 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027C8-4D74-4242-B97C-6A826894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622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9FF"/>
                </a:solidFill>
              </a:defRPr>
            </a:pPr>
            <a:r>
              <a:rPr sz="1350" b="0">
                <a:solidFill>
                  <a:srgbClr val="F7F9FF"/>
                </a:solidFill>
              </a:rPr>
              <a:t>Soglia preventiva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D2146-D5FE-4CEC-AC95-605AEA4B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667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1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A44A9-7127-43DB-9E8D-377A0B11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66975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DDF2"/>
                </a:solidFill>
              </a:defRPr>
            </a:pPr>
            <a:r>
              <a:rPr sz="2025" b="1">
                <a:solidFill>
                  <a:srgbClr val="19DDF2"/>
                </a:solidFill>
              </a:rPr>
              <a:t>SBU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C154C-F4C1-4338-81F2-311972E0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622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9FF"/>
                </a:solidFill>
              </a:defRPr>
            </a:pPr>
            <a:r>
              <a:rPr sz="1350" b="0">
                <a:solidFill>
                  <a:srgbClr val="F7F9FF"/>
                </a:solidFill>
              </a:rPr>
              <a:t>Supporto batteria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40F3D-C7C2-4E99-B8D1-2315C740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10000"/>
            <a:ext cx="2667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8289B-8439-4252-96C7-DF18AB20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386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B8D"/>
                </a:solidFill>
              </a:defRPr>
            </a:pPr>
            <a:r>
              <a:rPr sz="2025" b="1">
                <a:solidFill>
                  <a:srgbClr val="FF3B8D"/>
                </a:solidFill>
              </a:rPr>
              <a:t>CLIMA 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EE3BA-489B-4060-987A-F58E2682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3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9FF"/>
                </a:solidFill>
              </a:defRPr>
            </a:pPr>
            <a:r>
              <a:rPr sz="1350" b="0">
                <a:solidFill>
                  <a:srgbClr val="F7F9FF"/>
                </a:solidFill>
              </a:rPr>
              <a:t>Carico sacrificabile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43619-8CEC-41ED-855F-A7AF2658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2667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35E6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BB991-DE9C-41DF-ACBB-71A124FF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386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E6A3"/>
                </a:solidFill>
              </a:defRPr>
            </a:pPr>
            <a:r>
              <a:rPr sz="2025" b="1">
                <a:solidFill>
                  <a:srgbClr val="35E6A3"/>
                </a:solidFill>
              </a:rPr>
              <a:t>SUB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D54035-0FA3-42DC-A030-188CC6A0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3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9FF"/>
                </a:solidFill>
              </a:defRPr>
            </a:pPr>
            <a:r>
              <a:rPr sz="1350" b="0">
                <a:solidFill>
                  <a:srgbClr val="F7F9FF"/>
                </a:solidFill>
              </a:rPr>
              <a:t>Rientro stabile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6FB60-9E19-4A7C-B17E-C4889330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19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4D6"/>
                </a:solidFill>
              </a:defRPr>
            </a:pPr>
            <a:r>
              <a:rPr sz="1575" b="0">
                <a:solidFill>
                  <a:srgbClr val="AAB4D6"/>
                </a:solidFill>
              </a:rPr>
              <a:t>Isteresi e tempi minimi evitano continui cambi SBU/SUB.</a:t>
            </a:r>
          </a:p>
        </p:txBody>
      </p:sp>
    </p:spTree>
    <p:extLst>
      <p:ext uri="{BB962C8B-B14F-4D97-AF65-F5344CB8AC3E}">
        <p14:creationId xmlns:p14="http://schemas.microsoft.com/office/powerpoint/2010/main" val="1483740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CCB2E-0223-437A-9222-B5D11A1D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DDF2"/>
                </a:solidFill>
              </a:defRPr>
            </a:pPr>
            <a:r>
              <a:rPr sz="1050" b="1">
                <a:solidFill>
                  <a:srgbClr val="19DDF2"/>
                </a:solidFill>
              </a:rPr>
              <a:t>MISTERMIF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8A2ED-2243-4F2F-B404-CC5DCB1E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4D6"/>
                </a:solidFill>
              </a:defRPr>
            </a:pPr>
            <a:r>
              <a:rPr sz="1050" b="1">
                <a:solidFill>
                  <a:srgbClr val="AAB4D6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5E31F-00C7-462C-B96E-A1655F6A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FC1F4-12A6-44A6-8264-A0A0066B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9FF"/>
                </a:solidFill>
              </a:defRPr>
            </a:pPr>
            <a:r>
              <a:rPr sz="2925" b="1">
                <a:solidFill>
                  <a:srgbClr val="F7F9FF"/>
                </a:solidFill>
              </a:rPr>
              <a:t>Il meteo diventa una decisione, non solo una previsione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886AE-B50D-4360-955D-39F10F0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D6"/>
                </a:solidFill>
              </a:defRPr>
            </a:pPr>
            <a:r>
              <a:rPr sz="1500" b="0">
                <a:solidFill>
                  <a:srgbClr val="AAB4D6"/>
                </a:solidFill>
              </a:rPr>
              <a:t>GPS e sensori interni/esterni trasformano il bollettino in consigli utili.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A2D42-7511-48E3-92B7-1149FCAA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857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B3D"/>
          </a:solidFill>
          <a:ln xmlns:a="http://schemas.openxmlformats.org/drawingml/2006/main" w="9525">
            <a:solidFill>
              <a:srgbClr val="1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CD69A-4F4A-4872-B2C8-2E0E5742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DDF2"/>
                </a:solidFill>
              </a:defRPr>
            </a:pPr>
            <a:r>
              <a:rPr sz="1275" b="1">
                <a:solidFill>
                  <a:srgbClr val="19DDF2"/>
                </a:solidFill>
              </a:rPr>
              <a:t>DATI INCROCIATI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CBF93-2FE3-4D36-8FEB-3DAD4B14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Previsioni · vento · raffiche</a:t>
            </a:r>
          </a:p>
          <a:p xmlns:a="http://schemas.openxmlformats.org/drawingml/2006/main">
            <a:pPr algn="l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pioggia · pressione · umidità</a:t>
            </a:r>
          </a:p>
          <a:p xmlns:a="http://schemas.openxmlformats.org/drawingml/2006/main">
            <a:pPr algn="l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temperature interne ed esterne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0AF27-60E3-4BAF-8770-3A7F2F71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D6"/>
                </a:solidFill>
              </a:defRPr>
            </a:pPr>
            <a:r>
              <a:rPr sz="1350" b="0">
                <a:solidFill>
                  <a:srgbClr val="AAB4D6"/>
                </a:solidFill>
              </a:rPr>
              <a:t>Posizione dinamica della caravan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B1134-E819-46C4-8122-D2594B66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523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35E6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8F39A-4829-4AA4-8147-53000A53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E6A3"/>
                </a:solidFill>
              </a:defRPr>
            </a:pPr>
            <a:r>
              <a:rPr sz="1575" b="1">
                <a:solidFill>
                  <a:srgbClr val="35E6A3"/>
                </a:solidFill>
              </a:rPr>
              <a:t>ARIEGGIA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3830D-AC4C-400C-B607-D52C61F8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F"/>
                </a:solidFill>
              </a:defRPr>
            </a:pPr>
            <a:r>
              <a:rPr sz="1500" b="1">
                <a:solidFill>
                  <a:srgbClr val="F7F9FF"/>
                </a:solidFill>
              </a:rPr>
              <a:t>Fuori è più fresco e asciutto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81268-E6A4-446D-911D-E25E1364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523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96B75-C5C6-4267-B78C-1BECD6CE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3B8D"/>
                </a:solidFill>
              </a:defRPr>
            </a:pPr>
            <a:r>
              <a:rPr sz="1575" b="1">
                <a:solidFill>
                  <a:srgbClr val="FF3B8D"/>
                </a:solidFill>
              </a:rPr>
              <a:t>CHIUDI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848FE-A122-4DBA-A68B-3588F585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F"/>
                </a:solidFill>
              </a:defRPr>
            </a:pPr>
            <a:r>
              <a:rPr sz="1500" b="1">
                <a:solidFill>
                  <a:srgbClr val="F7F9FF"/>
                </a:solidFill>
              </a:rPr>
              <a:t>Raffiche in arrivo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3E0D6-86DD-4F0C-B4C3-3A295426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76750"/>
            <a:ext cx="523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D6FDC-9DE1-4CF5-A0E8-FFC1F77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857"/>
                </a:solidFill>
              </a:defRPr>
            </a:pPr>
            <a:r>
              <a:rPr sz="1575" b="1">
                <a:solidFill>
                  <a:srgbClr val="FFC857"/>
                </a:solidFill>
              </a:rPr>
              <a:t>PREPARA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07BBD-00A2-4B09-AE17-B1CEDFF1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F"/>
                </a:solidFill>
              </a:defRPr>
            </a:pPr>
            <a:r>
              <a:rPr sz="1500" b="1">
                <a:solidFill>
                  <a:srgbClr val="F7F9FF"/>
                </a:solidFill>
              </a:rPr>
              <a:t>Temporale sulla posizione GPS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9150B-B320-4111-BDB3-8A3E0B70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7531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D6"/>
                </a:solidFill>
              </a:defRPr>
            </a:pPr>
            <a:r>
              <a:rPr sz="1425" b="0">
                <a:solidFill>
                  <a:srgbClr val="AAB4D6"/>
                </a:solidFill>
              </a:rPr>
              <a:t>Le notifiche arrivano sui canali Home Assistant configurati.</a:t>
            </a:r>
          </a:p>
        </p:txBody>
      </p:sp>
    </p:spTree>
    <p:extLst>
      <p:ext uri="{BB962C8B-B14F-4D97-AF65-F5344CB8AC3E}">
        <p14:creationId xmlns:p14="http://schemas.microsoft.com/office/powerpoint/2010/main" val="2054902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891C3A-DE9A-4881-8BA7-0A9248EE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DDF2"/>
                </a:solidFill>
              </a:defRPr>
            </a:pPr>
            <a:r>
              <a:rPr sz="1050" b="1">
                <a:solidFill>
                  <a:srgbClr val="19DDF2"/>
                </a:solidFill>
              </a:rPr>
              <a:t>MISTERMIF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D71BF-688D-43C0-A9DD-70481676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4D6"/>
                </a:solidFill>
              </a:defRPr>
            </a:pPr>
            <a:r>
              <a:rPr sz="1050" b="1">
                <a:solidFill>
                  <a:srgbClr val="AAB4D6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8660-F35A-4C37-AD85-F7317DCB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4F364-B637-49ED-AFA1-396CDCFA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9FF"/>
                </a:solidFill>
              </a:defRPr>
            </a:pPr>
            <a:r>
              <a:rPr sz="2925" b="1">
                <a:solidFill>
                  <a:srgbClr val="F7F9FF"/>
                </a:solidFill>
              </a:rPr>
              <a:t>Ogni sosta arricchisce la memoria di viaggio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4ADA4-852E-45D3-9E3C-ECFBD2EA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D6"/>
                </a:solidFill>
              </a:defRPr>
            </a:pPr>
            <a:r>
              <a:rPr sz="1500" b="0">
                <a:solidFill>
                  <a:srgbClr val="AAB4D6"/>
                </a:solidFill>
              </a:rPr>
              <a:t>L’assistente ricorda ciò che conta davvero per quella caravan e quella famiglia.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8659A-FDC5-4BE3-B42B-2DA6B743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1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FF90D-5A45-4BB6-9F99-11D512FB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DDF2"/>
                </a:solidFill>
              </a:defRPr>
            </a:pPr>
            <a:r>
              <a:rPr sz="1200" b="1">
                <a:solidFill>
                  <a:srgbClr val="19DDF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FCA64-574F-4A21-8456-EBA6D2EE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Accesso caravan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1A080-AE82-4F77-837F-DDB25990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06BA9-A6B1-43CA-8643-D75E7CEA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8D"/>
                </a:solidFill>
              </a:defRPr>
            </a:pPr>
            <a:r>
              <a:rPr sz="1200" b="1">
                <a:solidFill>
                  <a:srgbClr val="FF3B8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CA8F3-C9F9-4856-B382-4715EAB7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Ampere reali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4C822-E931-4FCB-86D0-48C69E1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8600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1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D770F-6E64-4643-9791-9D9F63A8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DDF2"/>
                </a:solidFill>
              </a:defRPr>
            </a:pPr>
            <a:r>
              <a:rPr sz="1200" b="1">
                <a:solidFill>
                  <a:srgbClr val="19DDF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05D0B-389F-44D9-AF0A-3E5911C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09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Servizi e scarichi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8ABEB-F445-4F58-9A3A-06705CAE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B7FA3-B845-4EAD-85A4-2E958A91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8D"/>
                </a:solidFill>
              </a:defRPr>
            </a:pPr>
            <a:r>
              <a:rPr sz="1200" b="1">
                <a:solidFill>
                  <a:srgbClr val="FF3B8D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3A45E-2262-41E7-AE60-CE301D16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Ombra e meteo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45282-2E0B-43AA-9B52-6C7C6A3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1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D1918-F6C6-4B86-BB0B-E9B13EF4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862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DDF2"/>
                </a:solidFill>
              </a:defRPr>
            </a:pPr>
            <a:r>
              <a:rPr sz="1200" b="1">
                <a:solidFill>
                  <a:srgbClr val="19DDF2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779B9-F405-49BB-8E43-9A9AED0C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Note personali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87764-7D16-4C20-A5EF-E4F56BC0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333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A487F-6C5B-4B62-93FE-3875FA72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8D"/>
                </a:solidFill>
              </a:defRPr>
            </a:pPr>
            <a:r>
              <a:rPr sz="1200" b="1">
                <a:solidFill>
                  <a:srgbClr val="FF3B8D"/>
                </a:solidFill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37880-36C5-49DD-AFA0-C377765F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38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Strategia energia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573B9-27E4-4252-9CFC-F99F46EF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76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11B3D"/>
          </a:solidFill>
          <a:ln xmlns:a="http://schemas.openxmlformats.org/drawingml/2006/main" w="9525">
            <a:solidFill>
              <a:srgbClr val="2634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F42AAD-68ED-4ACB-B139-C2BED53C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AB4D6"/>
                </a:solidFill>
              </a:defRPr>
            </a:pPr>
            <a:r>
              <a:rPr sz="1350" b="1">
                <a:solidFill>
                  <a:srgbClr val="AAB4D6"/>
                </a:solidFill>
              </a:rPr>
              <a:t>Park4night: integrazione solo tramite API o autorizzazione ufficiale — mai scraping o aggiramento dell’abbonamento.</a:t>
            </a:r>
          </a:p>
        </p:txBody>
      </p:sp>
    </p:spTree>
    <p:extLst>
      <p:ext uri="{BB962C8B-B14F-4D97-AF65-F5344CB8AC3E}">
        <p14:creationId xmlns:p14="http://schemas.microsoft.com/office/powerpoint/2010/main" val="406735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1496E-2B73-41CB-B4DE-E03E66EC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DDF2"/>
                </a:solidFill>
              </a:defRPr>
            </a:pPr>
            <a:r>
              <a:rPr sz="1050" b="1">
                <a:solidFill>
                  <a:srgbClr val="19DDF2"/>
                </a:solidFill>
              </a:rPr>
              <a:t>MISTERMIF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0A724-D940-4B7E-877C-F3C7DF39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4D6"/>
                </a:solidFill>
              </a:defRPr>
            </a:pPr>
            <a:r>
              <a:rPr sz="1050" b="1">
                <a:solidFill>
                  <a:srgbClr val="AAB4D6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2C35E-9249-421C-9105-3EB81828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469FD-89B3-42A6-AF6D-DFC3742D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9FF"/>
                </a:solidFill>
              </a:defRPr>
            </a:pPr>
            <a:r>
              <a:rPr sz="2925" b="1">
                <a:solidFill>
                  <a:srgbClr val="F7F9FF"/>
                </a:solidFill>
              </a:rPr>
              <a:t>Un esperto di ricambi che non indovina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01A5F-1A83-4C18-99EA-E492B225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D6"/>
                </a:solidFill>
              </a:defRPr>
            </a:pPr>
            <a:r>
              <a:rPr sz="1500" b="0">
                <a:solidFill>
                  <a:srgbClr val="AAB4D6"/>
                </a:solidFill>
              </a:rPr>
              <a:t>La compatibilità viene costruita con dati tecnici, non con una somiglianza fotografica.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98E8A-C80F-42DE-94ED-01B716A2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742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1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9F520-BC80-40B2-821C-A09AA105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DDF2"/>
                </a:solidFill>
              </a:defRPr>
            </a:pPr>
            <a:r>
              <a:rPr sz="1650" b="1">
                <a:solidFill>
                  <a:srgbClr val="19DDF2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F27D7-E9E4-4B5A-BAC5-6A59FB13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DDF2"/>
                </a:solidFill>
              </a:defRPr>
            </a:pPr>
            <a:r>
              <a:rPr sz="1425" b="1">
                <a:solidFill>
                  <a:srgbClr val="19DDF2"/>
                </a:solidFill>
              </a:rPr>
              <a:t>IDENTIFICA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7D1DC-4EF0-4C01-BFFD-71D7CF5B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F"/>
                </a:solidFill>
              </a:defRPr>
            </a:pPr>
            <a:r>
              <a:rPr sz="1500" b="1">
                <a:solidFill>
                  <a:srgbClr val="F7F9FF"/>
                </a:solidFill>
              </a:rPr>
              <a:t>Marca · modello · anno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93D36-D7DD-4E9A-8E69-3ACE770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742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01E17-2333-4055-9D95-6181F5D1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3B8D"/>
                </a:solidFill>
              </a:defRPr>
            </a:pPr>
            <a:r>
              <a:rPr sz="1650" b="1">
                <a:solidFill>
                  <a:srgbClr val="FF3B8D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B03A6-F39B-45C3-B5D6-16035C6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86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3B8D"/>
                </a:solidFill>
              </a:defRPr>
            </a:pPr>
            <a:r>
              <a:rPr sz="1425" b="1">
                <a:solidFill>
                  <a:srgbClr val="FF3B8D"/>
                </a:solidFill>
              </a:rPr>
              <a:t>VERIFICA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B8443-8F7C-4293-9221-E3DBDE93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F"/>
                </a:solidFill>
              </a:defRPr>
            </a:pPr>
            <a:r>
              <a:rPr sz="1500" b="1">
                <a:solidFill>
                  <a:srgbClr val="F7F9FF"/>
                </a:solidFill>
              </a:rPr>
              <a:t>Codice · misure · connettori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F187A-BB11-4CDC-8906-66417E61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742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0F445-6985-4697-B8E9-425B6F5D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857"/>
                </a:solidFill>
              </a:defRPr>
            </a:pPr>
            <a:r>
              <a:rPr sz="1650" b="1">
                <a:solidFill>
                  <a:srgbClr val="FFC857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2D0AA-8392-40F4-B1BF-F20696E8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857"/>
                </a:solidFill>
              </a:defRPr>
            </a:pPr>
            <a:r>
              <a:rPr sz="1425" b="1">
                <a:solidFill>
                  <a:srgbClr val="FFC857"/>
                </a:solidFill>
              </a:rPr>
              <a:t>CONFRONTA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B1EBC-9AC3-4838-85BA-D5C3185B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F"/>
                </a:solidFill>
              </a:defRPr>
            </a:pPr>
            <a:r>
              <a:rPr sz="1500" b="1">
                <a:solidFill>
                  <a:srgbClr val="F7F9FF"/>
                </a:solidFill>
              </a:rPr>
              <a:t>Originale · equivalente · adattabile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A095C-395C-4750-9E9C-E1B2A067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7429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35E6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87640-F256-4D96-ACDF-2E4AF264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5E6A3"/>
                </a:solidFill>
              </a:defRPr>
            </a:pPr>
            <a:r>
              <a:rPr sz="1650" b="1">
                <a:solidFill>
                  <a:srgbClr val="35E6A3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AD1B7-76D9-47A3-BB77-B821BA62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91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E6A3"/>
                </a:solidFill>
              </a:defRPr>
            </a:pPr>
            <a:r>
              <a:rPr sz="1425" b="1">
                <a:solidFill>
                  <a:srgbClr val="35E6A3"/>
                </a:solidFill>
              </a:rPr>
              <a:t>CONFERMA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B51F4-60D3-4417-9C72-00719D7B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F"/>
                </a:solidFill>
              </a:defRPr>
            </a:pPr>
            <a:r>
              <a:rPr sz="1500" b="1">
                <a:solidFill>
                  <a:srgbClr val="F7F9FF"/>
                </a:solidFill>
              </a:rPr>
              <a:t>Fonte e livello di confidenza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36B9F-D456-479A-BE1B-8D052600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667000" cy="36004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11B3D"/>
          </a:solidFill>
          <a:ln xmlns:a="http://schemas.openxmlformats.org/drawingml/2006/main" w="9525">
            <a:solidFill>
              <a:srgbClr val="FF5B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57F50-8C4F-4575-92A1-FB8F878E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5B6E"/>
                </a:solidFill>
              </a:defRPr>
            </a:pPr>
            <a:r>
              <a:rPr sz="1875" b="1">
                <a:solidFill>
                  <a:srgbClr val="FF5B6E"/>
                </a:solidFill>
              </a:rPr>
              <a:t>SEMPRE</a:t>
            </a:r>
          </a:p>
          <a:p xmlns:a="http://schemas.openxmlformats.org/drawingml/2006/main">
            <a:pPr algn="ctr">
              <a:defRPr sz="1875" b="1">
                <a:solidFill>
                  <a:srgbClr val="FF5B6E"/>
                </a:solidFill>
              </a:defRPr>
            </a:pPr>
            <a:r>
              <a:rPr sz="1875" b="1">
                <a:solidFill>
                  <a:srgbClr val="FF5B6E"/>
                </a:solidFill>
              </a:rPr>
              <a:t>DA VERIFICARE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59038-7BC3-4F71-BBBF-011DC09C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14750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Gas</a:t>
            </a:r>
          </a:p>
          <a:p xmlns:a="http://schemas.openxmlformats.org/drawingml/2006/main">
            <a:pPr algn="ctr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Freni</a:t>
            </a:r>
          </a:p>
          <a:p xmlns:a="http://schemas.openxmlformats.org/drawingml/2006/main">
            <a:pPr algn="ctr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Telaio</a:t>
            </a:r>
          </a:p>
          <a:p xmlns:a="http://schemas.openxmlformats.org/drawingml/2006/main">
            <a:pPr algn="ctr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230 V</a:t>
            </a:r>
          </a:p>
          <a:p xmlns:a="http://schemas.openxmlformats.org/drawingml/2006/main">
            <a:pPr algn="ctr">
              <a:defRPr sz="1650" b="1">
                <a:solidFill>
                  <a:srgbClr val="F7F9FF"/>
                </a:solidFill>
              </a:defRPr>
            </a:pPr>
            <a:r>
              <a:rPr sz="1650" b="1">
                <a:solidFill>
                  <a:srgbClr val="F7F9FF"/>
                </a:solidFill>
              </a:rPr>
              <a:t>Dispositivi di sicurezza</a:t>
            </a:r>
          </a:p>
        </p:txBody>
      </p:sp>
    </p:spTree>
    <p:extLst>
      <p:ext uri="{BB962C8B-B14F-4D97-AF65-F5344CB8AC3E}">
        <p14:creationId xmlns:p14="http://schemas.microsoft.com/office/powerpoint/2010/main" val="19714122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DAA4A-BE53-452B-A8E5-8E7658B5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DDF2"/>
                </a:solidFill>
              </a:defRPr>
            </a:pPr>
            <a:r>
              <a:rPr sz="1050" b="1">
                <a:solidFill>
                  <a:srgbClr val="19DDF2"/>
                </a:solidFill>
              </a:rPr>
              <a:t>MISTERMIF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6E931-C2C5-48BC-ACA9-D1D0D232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4D6"/>
                </a:solidFill>
              </a:defRPr>
            </a:pPr>
            <a:r>
              <a:rPr sz="1050" b="1">
                <a:solidFill>
                  <a:srgbClr val="AAB4D6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8C038-74F5-4BA8-B1F0-BDC29FA0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D4436-33DC-4A9E-B792-C4B65EA5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9FF"/>
                </a:solidFill>
              </a:defRPr>
            </a:pPr>
            <a:r>
              <a:rPr sz="2925" b="1">
                <a:solidFill>
                  <a:srgbClr val="F7F9FF"/>
                </a:solidFill>
              </a:rPr>
              <a:t>Autonomia sì. Controllo sempre.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B6713-2738-41C8-A74E-CCA467A9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D6"/>
                </a:solidFill>
              </a:defRPr>
            </a:pPr>
            <a:r>
              <a:rPr sz="1500" b="0">
                <a:solidFill>
                  <a:srgbClr val="AAB4D6"/>
                </a:solidFill>
              </a:rPr>
              <a:t>Il potere decisionale è visibile, reversibile e confinato.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DACAD-0EAE-4BCF-9F33-2C7D328D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B3D"/>
          </a:solidFill>
          <a:ln xmlns:a="http://schemas.openxmlformats.org/drawingml/2006/main" w="9525">
            <a:solidFill>
              <a:srgbClr val="FF5B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4F5A1-FD22-4A43-81AF-AE03098F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5B6E"/>
                </a:solidFill>
              </a:defRPr>
            </a:pPr>
            <a:r>
              <a:rPr sz="2550" b="1">
                <a:solidFill>
                  <a:srgbClr val="FF5B6E"/>
                </a:solidFill>
              </a:rPr>
              <a:t>BLOCCA POTERE</a:t>
            </a:r>
          </a:p>
          <a:p xmlns:a="http://schemas.openxmlformats.org/drawingml/2006/main">
            <a:pPr algn="ctr">
              <a:defRPr sz="2550" b="1">
                <a:solidFill>
                  <a:srgbClr val="FF5B6E"/>
                </a:solidFill>
              </a:defRPr>
            </a:pPr>
            <a:r>
              <a:rPr sz="2550" b="1">
                <a:solidFill>
                  <a:srgbClr val="FF5B6E"/>
                </a:solidFill>
              </a:rPr>
              <a:t>DECISIONALE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E82BF-6EED-4F69-BE9D-006BC03D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9FF"/>
                </a:solidFill>
              </a:defRPr>
            </a:pPr>
            <a:r>
              <a:rPr sz="1575" b="1">
                <a:solidFill>
                  <a:srgbClr val="F7F9FF"/>
                </a:solidFill>
              </a:rPr>
              <a:t>Un solo comando ferma tutte le azioni operative.</a:t>
            </a:r>
          </a:p>
          <a:p xmlns:a="http://schemas.openxmlformats.org/drawingml/2006/main">
            <a:pPr algn="ctr">
              <a:defRPr sz="1575" b="1">
                <a:solidFill>
                  <a:srgbClr val="F7F9FF"/>
                </a:solidFill>
              </a:defRPr>
            </a:pPr>
            <a:r>
              <a:rPr sz="1575" b="1">
                <a:solidFill>
                  <a:srgbClr val="F7F9FF"/>
                </a:solidFill>
              </a:rPr>
              <a:t>Osservazione, diagnosi e notifiche restano disponibili.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0A497-8302-4C81-B435-D3E8FEE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143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35E6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FEBFA-3708-4CE6-AF93-1329CBDE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62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E6A3"/>
                </a:solidFill>
              </a:defRPr>
            </a:pPr>
            <a:r>
              <a:rPr sz="1275" b="1">
                <a:solidFill>
                  <a:srgbClr val="35E6A3"/>
                </a:solidFill>
              </a:rPr>
              <a:t>CARTELLA PROPRIA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E6548-7073-43E3-9193-EA0827EB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F"/>
                </a:solidFill>
              </a:defRPr>
            </a:pPr>
            <a:r>
              <a:rPr sz="1350" b="1">
                <a:solidFill>
                  <a:srgbClr val="F7F9FF"/>
                </a:solidFill>
              </a:rPr>
              <a:t>Lavora e testa liberamente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62731-55D3-452D-AFA1-4D8E86DF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143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EA07E-2225-46A5-8DF8-B90E87A5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09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C857"/>
                </a:solidFill>
              </a:defRPr>
            </a:pPr>
            <a:r>
              <a:rPr sz="1275" b="1">
                <a:solidFill>
                  <a:srgbClr val="FFC857"/>
                </a:solidFill>
              </a:rPr>
              <a:t>FUORI CARTELLA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A0F21-0A99-4FC8-8A97-94BB14D1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099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F"/>
                </a:solidFill>
              </a:defRPr>
            </a:pPr>
            <a:r>
              <a:rPr sz="1350" b="1">
                <a:solidFill>
                  <a:srgbClr val="F7F9FF"/>
                </a:solidFill>
              </a:rPr>
              <a:t>Spiega e chiede sempre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F83F3-04BF-4974-8C34-158127F6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5143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40A1E-31BF-43D5-A448-6461CF42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57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3B8D"/>
                </a:solidFill>
              </a:defRPr>
            </a:pPr>
            <a:r>
              <a:rPr sz="1275" b="1">
                <a:solidFill>
                  <a:srgbClr val="FF3B8D"/>
                </a:solidFill>
              </a:rPr>
              <a:t>PARAMETRI CRITICI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7560C-C08F-44B5-A7AE-E0D629C6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F"/>
                </a:solidFill>
              </a:defRPr>
            </a:pPr>
            <a:r>
              <a:rPr sz="1350" b="1">
                <a:solidFill>
                  <a:srgbClr val="F7F9FF"/>
                </a:solidFill>
              </a:rPr>
              <a:t>BMS, firmware e protezioni esclusi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B2E8B-B56D-4AFE-9DA4-AF1170B2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4D6"/>
                </a:solidFill>
              </a:defRPr>
            </a:pPr>
            <a:r>
              <a:rPr sz="1425" b="0">
                <a:solidFill>
                  <a:srgbClr val="AAB4D6"/>
                </a:solidFill>
              </a:rPr>
              <a:t>Ogni modifica esterna include motivo, rischio, backup e ripristino.</a:t>
            </a:r>
          </a:p>
        </p:txBody>
      </p:sp>
    </p:spTree>
    <p:extLst>
      <p:ext uri="{BB962C8B-B14F-4D97-AF65-F5344CB8AC3E}">
        <p14:creationId xmlns:p14="http://schemas.microsoft.com/office/powerpoint/2010/main" val="1238926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8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406CA-37F7-4EA9-9ABB-DCBFA82F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DDF2"/>
                </a:solidFill>
              </a:defRPr>
            </a:pPr>
            <a:r>
              <a:rPr sz="1050" b="1">
                <a:solidFill>
                  <a:srgbClr val="19DDF2"/>
                </a:solidFill>
              </a:rPr>
              <a:t>MISTERMIF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AAF16-2AFD-4D58-8549-921D8962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4D6"/>
                </a:solidFill>
              </a:defRPr>
            </a:pPr>
            <a:r>
              <a:rPr sz="1050" b="1">
                <a:solidFill>
                  <a:srgbClr val="AAB4D6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29043-DF25-4159-A202-E604B78E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5F"/>
          </a:solidFill>
          <a:ln xmlns:a="http://schemas.openxmlformats.org/drawingml/2006/main" w="0">
            <a:solidFill>
              <a:srgbClr val="263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B486E-5AE5-44FD-8DFE-CCDDF640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9FF"/>
                </a:solidFill>
              </a:defRPr>
            </a:pPr>
            <a:r>
              <a:rPr sz="2925" b="1">
                <a:solidFill>
                  <a:srgbClr val="F7F9FF"/>
                </a:solidFill>
              </a:rPr>
              <a:t>La base è pronta. Ora costruiamo il copilota completo.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AD124-40B3-4655-AD79-3D838E28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4D6"/>
                </a:solidFill>
              </a:defRPr>
            </a:pPr>
            <a:r>
              <a:rPr sz="1500" b="0">
                <a:solidFill>
                  <a:srgbClr val="AAB4D6"/>
                </a:solidFill>
              </a:rPr>
              <a:t>Un’evoluzione graduale, verificabile e sempre disattivabile.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5434C-8354-44E0-9CA2-668656F7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35E6A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629C9-84CC-4443-911E-E1913C61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E6A3"/>
                </a:solidFill>
              </a:defRPr>
            </a:pPr>
            <a:r>
              <a:rPr sz="1350" b="1">
                <a:solidFill>
                  <a:srgbClr val="35E6A3"/>
                </a:solidFill>
              </a:rPr>
              <a:t>OGGI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CB768-962B-4031-8AD1-30E8FD18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809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Workspace isolato</a:t>
            </a:r>
          </a:p>
          <a:p xmlns:a="http://schemas.openxmlformats.org/drawingml/2006/main">
            <a:pPr algn="ctr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chat · memoria</a:t>
            </a:r>
          </a:p>
          <a:p xmlns:a="http://schemas.openxmlformats.org/drawingml/2006/main">
            <a:pPr algn="ctr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kill switch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798A4-2FEE-4CBC-AB0E-5F2C8669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1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AF11D-CFF4-4697-AF1A-5B3A1F06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7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DDF2"/>
                </a:solidFill>
              </a:defRPr>
            </a:pPr>
            <a:r>
              <a:rPr sz="1350" b="1">
                <a:solidFill>
                  <a:srgbClr val="19DDF2"/>
                </a:solidFill>
              </a:rPr>
              <a:t>PROSSIMO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B997E-B8DE-49D2-AB48-837D3CC1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2809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Meteo e campeggi</a:t>
            </a:r>
          </a:p>
          <a:p xmlns:a="http://schemas.openxmlformats.org/drawingml/2006/main">
            <a:pPr algn="ctr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Energy Pilot</a:t>
            </a:r>
          </a:p>
          <a:p xmlns:a="http://schemas.openxmlformats.org/drawingml/2006/main">
            <a:pPr algn="ctr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notifiche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F07B0-6C36-4723-851B-CAE0D4A5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9525">
            <a:solidFill>
              <a:srgbClr val="FF3B8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2F2F5-A419-46F5-A482-0DD9FD46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8D"/>
                </a:solidFill>
              </a:defRPr>
            </a:pPr>
            <a:r>
              <a:rPr sz="1350" b="1">
                <a:solidFill>
                  <a:srgbClr val="FF3B8D"/>
                </a:solidFill>
              </a:rPr>
              <a:t>DOPO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B914A-64A8-4B8D-84F2-87C4119B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2809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Ricambi evoluti</a:t>
            </a:r>
          </a:p>
          <a:p xmlns:a="http://schemas.openxmlformats.org/drawingml/2006/main">
            <a:pPr algn="ctr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collegamento Mac</a:t>
            </a:r>
          </a:p>
          <a:p xmlns:a="http://schemas.openxmlformats.org/drawingml/2006/main">
            <a:pPr algn="ctr">
              <a:defRPr sz="2025" b="1">
                <a:solidFill>
                  <a:srgbClr val="F7F9FF"/>
                </a:solidFill>
              </a:defRPr>
            </a:pPr>
            <a:r>
              <a:rPr sz="2025" b="1">
                <a:solidFill>
                  <a:srgbClr val="F7F9FF"/>
                </a:solidFill>
              </a:rPr>
              <a:t>voce opzionale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18F2C-5BB5-4171-9244-55893F06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9FF"/>
                </a:solidFill>
              </a:defRPr>
            </a:pPr>
            <a:r>
              <a:rPr sz="2250" b="1">
                <a:solidFill>
                  <a:srgbClr val="F7F9FF"/>
                </a:solidFill>
              </a:rPr>
              <a:t>mistermif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A9559-1E0E-42FE-8D02-6E57D65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43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AAB4D6"/>
                </a:solidFill>
              </a:defRPr>
            </a:pPr>
            <a:r>
              <a:rPr sz="1800" b="1">
                <a:solidFill>
                  <a:srgbClr val="AAB4D6"/>
                </a:solidFill>
              </a:rPr>
              <a:t>La caravan che impara senza perdere il controllo.</a:t>
            </a:r>
          </a:p>
        </p:txBody>
      </p:sp>
    </p:spTree>
    <p:extLst>
      <p:ext uri="{BB962C8B-B14F-4D97-AF65-F5344CB8AC3E}">
        <p14:creationId xmlns:p14="http://schemas.microsoft.com/office/powerpoint/2010/main" val="584470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2026-07-18T09:03:22.9310000Z</dcterms:created>
  <dcterms:modified xsi:type="dcterms:W3CDTF">2026-07-18T09:03:22.9310000Z</dcterms:modified>
</coreProperties>
</file>